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be380461994b1d" /><Relationship Type="http://schemas.openxmlformats.org/officeDocument/2006/relationships/extended-properties" Target="/docProps/app.xml" Id="Rb16e48edbe054b51" /><Relationship Type="http://schemas.openxmlformats.org/officeDocument/2006/relationships/officeDocument" Target="/ppt/presentation.xml" Id="R59fde400cd5a4f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c5d3cfa4b541ee"/>
  </p:sldMasterIdLst>
  <p:notesMasterIdLst>
    <p:notesMasterId xmlns:r="http://schemas.openxmlformats.org/officeDocument/2006/relationships" r:id="R6803b18bc1a84138"/>
  </p:notesMasterIdLst>
  <p:sldIdLst>
    <p:sldId xmlns:r="http://schemas.openxmlformats.org/officeDocument/2006/relationships" id="256" r:id="Rdb3082452bfb47d4"/>
    <p:sldId xmlns:r="http://schemas.openxmlformats.org/officeDocument/2006/relationships" id="257" r:id="R32c3c9fbb1fa427b"/>
    <p:sldId xmlns:r="http://schemas.openxmlformats.org/officeDocument/2006/relationships" id="258" r:id="Ra09ced274347473e"/>
    <p:sldId xmlns:r="http://schemas.openxmlformats.org/officeDocument/2006/relationships" id="259" r:id="R776fc458e52b486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6cbbbd6c25452f" /><Relationship Type="http://schemas.openxmlformats.org/officeDocument/2006/relationships/slideMaster" Target="/ppt/slideMasters/slideMaster1.xml" Id="R22c5d3cfa4b541ee" /><Relationship Type="http://schemas.openxmlformats.org/officeDocument/2006/relationships/notesMaster" Target="/ppt/notesMasters/notesMaster1.xml" Id="R6803b18bc1a84138" /><Relationship Type="http://schemas.openxmlformats.org/officeDocument/2006/relationships/presProps" Target="/ppt/presProps.xml" Id="R8771f1409081424d" /><Relationship Type="http://schemas.openxmlformats.org/officeDocument/2006/relationships/tableStyles" Target="/ppt/tableStyles.xml" Id="Rbf6e142f01314813" /><Relationship Type="http://schemas.openxmlformats.org/officeDocument/2006/relationships/slide" Target="/ppt/slides/slide1.xml" Id="Rdb3082452bfb47d4" /><Relationship Type="http://schemas.openxmlformats.org/officeDocument/2006/relationships/slide" Target="/ppt/slides/slide2.xml" Id="R32c3c9fbb1fa427b" /><Relationship Type="http://schemas.openxmlformats.org/officeDocument/2006/relationships/slide" Target="/ppt/slides/slide3.xml" Id="Ra09ced274347473e" /><Relationship Type="http://schemas.openxmlformats.org/officeDocument/2006/relationships/slide" Target="/ppt/slides/slide4.xml" Id="R776fc458e52b48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0a313c3a2e4e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25be38fe834401" /><Relationship Type="http://schemas.openxmlformats.org/officeDocument/2006/relationships/notesMaster" Target="/ppt/notesMasters/notesMaster1.xml" Id="R04f4978f985a40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5d3b50ac354169" /><Relationship Type="http://schemas.openxmlformats.org/officeDocument/2006/relationships/notesMaster" Target="/ppt/notesMasters/notesMaster1.xml" Id="R4e749a8a7cb245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479000ef2647ea" /><Relationship Type="http://schemas.openxmlformats.org/officeDocument/2006/relationships/notesMaster" Target="/ppt/notesMasters/notesMaster1.xml" Id="Re8aff0f852bd4f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0958a1f5444b6b" /><Relationship Type="http://schemas.openxmlformats.org/officeDocument/2006/relationships/notesMaster" Target="/ppt/notesMasters/notesMaster1.xml" Id="R3bc80e7ed85340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216b68fa6449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adda4b95d04369" /><Relationship Type="http://schemas.openxmlformats.org/officeDocument/2006/relationships/slideLayout" Target="/ppt/slideLayouts/slideLayout1.xml" Id="R61b97461b54b49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b97461b54b49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e4da667e5494e" /><Relationship Type="http://schemas.openxmlformats.org/officeDocument/2006/relationships/notesSlide" Target="/ppt/notesSlides/notesSlide1.xml" Id="R4d451dad069b44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5754138c34bbd" /><Relationship Type="http://schemas.openxmlformats.org/officeDocument/2006/relationships/notesSlide" Target="/ppt/notesSlides/notesSlide2.xml" Id="Re1eb30f3df2042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97033cfdb4e0f" /><Relationship Type="http://schemas.openxmlformats.org/officeDocument/2006/relationships/notesSlide" Target="/ppt/notesSlides/notesSlide3.xml" Id="R1307e0dd893144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a3f1018e145a0" /><Relationship Type="http://schemas.openxmlformats.org/officeDocument/2006/relationships/chart" Target="/ppt/slides/charts/chart1.xml" Id="R41d21d934ed24c9a" /><Relationship Type="http://schemas.openxmlformats.org/officeDocument/2006/relationships/notesSlide" Target="/ppt/notesSlides/notesSlide4.xml" Id="Rd191d7fce17b44b8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材料强度</c:v>
          </c:tx>
          <c:spPr>
            <a:solidFill xmlns:a="http://schemas.openxmlformats.org/drawingml/2006/main">
              <a:schemeClr val="accent1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找回</c:v>
              </c:pt>
              <c:pt idx="1">
                <c:v>判断</c:v>
              </c:pt>
              <c:pt idx="2">
                <c:v>写作</c:v>
              </c:pt>
            </c:strLit>
          </c:cat>
          <c:val>
            <c:numLit>
              <c:formatCode>General</c:formatCode>
              <c:ptCount val="3"/>
              <c:pt idx="0">
                <c:v>8</c:v>
              </c:pt>
              <c:pt idx="1">
                <c:v>6</c:v>
              </c:pt>
              <c:pt idx="2">
                <c:v>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2244B9A7-41F7-4EAD-9C4C-3BE29336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2748E"/>
                </a:solidFill>
              </a:defRPr>
            </a:pPr>
            <a:r>
              <a:rPr sz="1350" b="1">
                <a:solidFill>
                  <a:srgbClr val="62748E"/>
                </a:solidFill>
              </a:rPr>
              <a:t>PKM-2026 · 2026-05-10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288F3426-2A40-4981-B0A2-7A3B8009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20618"/>
                </a:solidFill>
              </a:defRPr>
            </a:pPr>
            <a:r>
              <a:rPr sz="3900" b="1">
                <a:solidFill>
                  <a:srgbClr val="020618"/>
                </a:solidFill>
              </a:rPr>
              <a:t>阶段成果展示：上下文恢复</a:t>
            </a:r>
          </a:p>
        </p:txBody>
      </p:sp>
      <p:sp>
        <p:nvSpPr>
          <p:cNvPr id="3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4CDCC092-EA46-488B-855C-DCCE5D52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5556C"/>
                </a:solidFill>
              </a:defRPr>
            </a:pPr>
            <a:r>
              <a:rPr sz="1950">
                <a:solidFill>
                  <a:srgbClr val="45556C"/>
                </a:solidFill>
              </a:rPr>
              <a:t>多格式个人资料如何支持新写作</a:t>
            </a:r>
          </a:p>
        </p:txBody>
      </p:sp>
      <p:sp>
        <p:nvSpPr>
          <p:cNvPr id="4" name="owner">
            <a:extLst xmlns:a="http://schemas.openxmlformats.org/drawingml/2006/main">
              <a:ext uri="{FF2B5EF4-FFF2-40B4-BE49-F238E27FC236}">
                <a16:creationId xmlns:a16="http://schemas.microsoft.com/office/drawing/2014/main" id="{F193902D-8963-4C2F-8155-101D6E6E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721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2748E"/>
                </a:solidFill>
              </a:defRPr>
            </a:pPr>
            <a:r>
              <a:rPr sz="1500">
                <a:solidFill>
                  <a:srgbClr val="62748E"/>
                </a:solidFill>
              </a:rPr>
              <a:t>林澈 · 城市知识计算实验室</a:t>
            </a:r>
          </a:p>
        </p:txBody>
      </p:sp>
    </p:spTree>
    <p:extLst>
      <p:ext uri="{BB962C8B-B14F-4D97-AF65-F5344CB8AC3E}">
        <p14:creationId xmlns:p14="http://schemas.microsoft.com/office/powerpoint/2010/main" val="19382410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9FBF8080-5EB4-433F-B674-1B5D99A2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0A1B9"/>
                </a:solidFill>
              </a:defRPr>
            </a:pPr>
            <a:r>
              <a:rPr sz="1800" b="1">
                <a:solidFill>
                  <a:srgbClr val="90A1B9"/>
                </a:solidFill>
              </a:rPr>
              <a:t>01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FE1FDD-38AF-45BE-ABC0-19A94E43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研究问题已收敛</a:t>
            </a:r>
          </a:p>
        </p:txBody>
      </p:sp>
      <p:sp>
        <p:nvSpPr>
          <p:cNvPr id="3" name="body-points">
            <a:extLst xmlns:a="http://schemas.openxmlformats.org/drawingml/2006/main">
              <a:ext uri="{FF2B5EF4-FFF2-40B4-BE49-F238E27FC236}">
                <a16:creationId xmlns:a16="http://schemas.microsoft.com/office/drawing/2014/main" id="{04310E0D-F6DF-402C-A4D1-E3A03E82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85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不再问“工具是否好用”，而是问资料如何被重新理解和使用。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重点观察找回资料、判断资料、使用资料三个环节。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阶段材料包括 TXT、Markdown、DOCX、PDF 和 PPTX。</a:t>
            </a:r>
          </a:p>
        </p:txBody>
      </p:sp>
      <p:sp>
        <p:nvSpPr>
          <p:cNvPr id="4" name="right-note">
            <a:extLst xmlns:a="http://schemas.openxmlformats.org/drawingml/2006/main">
              <a:ext uri="{FF2B5EF4-FFF2-40B4-BE49-F238E27FC236}">
                <a16:creationId xmlns:a16="http://schemas.microsoft.com/office/drawing/2014/main" id="{3D5297F8-B6AF-4A5D-A421-CBDCD946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143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5" name="right-note-text">
            <a:extLst xmlns:a="http://schemas.openxmlformats.org/drawingml/2006/main">
              <a:ext uri="{FF2B5EF4-FFF2-40B4-BE49-F238E27FC236}">
                <a16:creationId xmlns:a16="http://schemas.microsoft.com/office/drawing/2014/main" id="{EE53D3D5-C695-4F92-B174-9EEF32C7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14158"/>
                </a:solidFill>
              </a:defRPr>
            </a:pPr>
            <a:r>
              <a:rPr sz="1725" b="0">
                <a:solidFill>
                  <a:srgbClr val="314158"/>
                </a:solidFill>
              </a:rPr>
              <a:t>复用提示</a:t>
            </a:r>
          </a:p>
          <a:p xmlns:a="http://schemas.openxmlformats.org/drawingml/2006/main">
            <a:pPr>
              <a:defRPr sz="1725" b="0">
                <a:solidFill>
                  <a:srgbClr val="314158"/>
                </a:solidFill>
              </a:defRPr>
            </a:pPr>
            <a:r>
              <a:rPr sz="1725" b="0">
                <a:solidFill>
                  <a:srgbClr val="314158"/>
                </a:solidFill>
              </a:rPr>
              <a:t>保留问题、来源和下一步行动，避免材料只停留在摘要层。</a:t>
            </a:r>
          </a:p>
        </p:txBody>
      </p:sp>
    </p:spTree>
    <p:extLst>
      <p:ext uri="{BB962C8B-B14F-4D97-AF65-F5344CB8AC3E}">
        <p14:creationId xmlns:p14="http://schemas.microsoft.com/office/powerpoint/2010/main" val="11584874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E04756A7-6C6F-4E8D-9E5E-E108F20D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0A1B9"/>
                </a:solidFill>
              </a:defRPr>
            </a:pPr>
            <a:r>
              <a:rPr sz="1800" b="1">
                <a:solidFill>
                  <a:srgbClr val="90A1B9"/>
                </a:solidFill>
              </a:rPr>
              <a:t>02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B323D3-AFAA-4772-B7B7-B8F33210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三条阶段发现</a:t>
            </a:r>
          </a:p>
        </p:txBody>
      </p:sp>
      <p:sp>
        <p:nvSpPr>
          <p:cNvPr id="3" name="body-points">
            <a:extLst xmlns:a="http://schemas.openxmlformats.org/drawingml/2006/main">
              <a:ext uri="{FF2B5EF4-FFF2-40B4-BE49-F238E27FC236}">
                <a16:creationId xmlns:a16="http://schemas.microsoft.com/office/drawing/2014/main" id="{4BD63FD5-1110-4D64-B189-3DB07F09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85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格式差异来自任务差异，不等于整理失败。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模糊回忆是高频入口，问题式检索更自然。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来源片段决定用户是否敢把结果写入正式文档。</a:t>
            </a:r>
          </a:p>
        </p:txBody>
      </p:sp>
      <p:sp>
        <p:nvSpPr>
          <p:cNvPr id="4" name="right-note">
            <a:extLst xmlns:a="http://schemas.openxmlformats.org/drawingml/2006/main">
              <a:ext uri="{FF2B5EF4-FFF2-40B4-BE49-F238E27FC236}">
                <a16:creationId xmlns:a16="http://schemas.microsoft.com/office/drawing/2014/main" id="{B294D599-AAEC-4AB0-A602-EBEFBE41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143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5" name="right-note-text">
            <a:extLst xmlns:a="http://schemas.openxmlformats.org/drawingml/2006/main">
              <a:ext uri="{FF2B5EF4-FFF2-40B4-BE49-F238E27FC236}">
                <a16:creationId xmlns:a16="http://schemas.microsoft.com/office/drawing/2014/main" id="{B7ABCFD5-097E-4428-966F-3461F680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14158"/>
                </a:solidFill>
              </a:defRPr>
            </a:pPr>
            <a:r>
              <a:rPr sz="1725" b="0">
                <a:solidFill>
                  <a:srgbClr val="314158"/>
                </a:solidFill>
              </a:rPr>
              <a:t>复用提示</a:t>
            </a:r>
          </a:p>
          <a:p xmlns:a="http://schemas.openxmlformats.org/drawingml/2006/main">
            <a:pPr>
              <a:defRPr sz="1725" b="0">
                <a:solidFill>
                  <a:srgbClr val="314158"/>
                </a:solidFill>
              </a:defRPr>
            </a:pPr>
            <a:r>
              <a:rPr sz="1725" b="0">
                <a:solidFill>
                  <a:srgbClr val="314158"/>
                </a:solidFill>
              </a:rPr>
              <a:t>保留问题、来源和下一步行动，避免材料只停留在摘要层。</a:t>
            </a:r>
          </a:p>
        </p:txBody>
      </p:sp>
    </p:spTree>
    <p:extLst>
      <p:ext uri="{BB962C8B-B14F-4D97-AF65-F5344CB8AC3E}">
        <p14:creationId xmlns:p14="http://schemas.microsoft.com/office/powerpoint/2010/main" val="8313187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72D47C76-C315-4573-9F51-412F3C0E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0A1B9"/>
                </a:solidFill>
              </a:defRPr>
            </a:pPr>
            <a:r>
              <a:rPr sz="1800" b="1">
                <a:solidFill>
                  <a:srgbClr val="90A1B9"/>
                </a:solidFill>
              </a:rPr>
              <a:t>03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85CBD4-95B4-4857-ACB3-4B9D1AF2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可展示的案例</a:t>
            </a:r>
          </a:p>
        </p:txBody>
      </p:sp>
      <p:sp>
        <p:nvSpPr>
          <p:cNvPr id="3" name="body-points">
            <a:extLst xmlns:a="http://schemas.openxmlformats.org/drawingml/2006/main">
              <a:ext uri="{FF2B5EF4-FFF2-40B4-BE49-F238E27FC236}">
                <a16:creationId xmlns:a16="http://schemas.microsoft.com/office/drawing/2014/main" id="{62F45528-F516-4B0B-BFE1-89F227C9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85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问题：为什么资料分散不是混乱？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命中：访谈摘录、项目日志、资料整理说明。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输出：阶段简报中的一段可引用解释。</a:t>
            </a:r>
          </a:p>
        </p:txBody>
      </p:sp>
      <p:sp>
        <p:nvSpPr>
          <p:cNvPr id="4" name="evidence-chart-frame">
            <a:extLst xmlns:a="http://schemas.openxmlformats.org/drawingml/2006/main">
              <a:ext uri="{FF2B5EF4-FFF2-40B4-BE49-F238E27FC236}">
                <a16:creationId xmlns:a16="http://schemas.microsoft.com/office/drawing/2014/main" id="{6703B988-B068-44CE-BEFC-14ED1A91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812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8286750" y="2400300"/>
          <a:ext xmlns:a="http://schemas.openxmlformats.org/drawingml/2006/main" cx="2800350" cy="2362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d21d934ed24c9a"/>
          </a:graphicData>
        </a:graphic>
      </p:graphicFrame>
      <p:sp>
        <p:nvSpPr>
          <p:cNvPr id="6" name="chart-caption">
            <a:extLst xmlns:a="http://schemas.openxmlformats.org/drawingml/2006/main">
              <a:ext uri="{FF2B5EF4-FFF2-40B4-BE49-F238E27FC236}">
                <a16:creationId xmlns:a16="http://schemas.microsoft.com/office/drawing/2014/main" id="{8E8C0218-BF68-4129-8963-718B2F2F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145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4158"/>
                </a:solidFill>
              </a:defRPr>
            </a:pPr>
            <a:r>
              <a:rPr sz="1350" b="1">
                <a:solidFill>
                  <a:srgbClr val="314158"/>
                </a:solidFill>
              </a:rPr>
              <a:t>证据链强度记录</a:t>
            </a:r>
          </a:p>
        </p:txBody>
      </p:sp>
    </p:spTree>
    <p:extLst>
      <p:ext uri="{BB962C8B-B14F-4D97-AF65-F5344CB8AC3E}">
        <p14:creationId xmlns:p14="http://schemas.microsoft.com/office/powerpoint/2010/main" val="7811089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2026-06-24T02:41:34.8980000Z</dcterms:created>
  <dcterms:modified xsi:type="dcterms:W3CDTF">2026-06-24T02:41:34.8980000Z</dcterms:modified>
</coreProperties>
</file>