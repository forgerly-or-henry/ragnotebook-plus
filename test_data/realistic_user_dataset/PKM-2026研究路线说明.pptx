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c7c7dda9b04fdf" /><Relationship Type="http://schemas.openxmlformats.org/officeDocument/2006/relationships/extended-properties" Target="/docProps/app.xml" Id="R3e8a5418e6464387" /><Relationship Type="http://schemas.openxmlformats.org/officeDocument/2006/relationships/officeDocument" Target="/ppt/presentation.xml" Id="R22961db28c0743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f008f5cbdc44dd"/>
  </p:sldMasterIdLst>
  <p:notesMasterIdLst>
    <p:notesMasterId xmlns:r="http://schemas.openxmlformats.org/officeDocument/2006/relationships" r:id="R2e3706401f094b15"/>
  </p:notesMasterIdLst>
  <p:sldIdLst>
    <p:sldId xmlns:r="http://schemas.openxmlformats.org/officeDocument/2006/relationships" id="256" r:id="Rb8bb380900d24706"/>
    <p:sldId xmlns:r="http://schemas.openxmlformats.org/officeDocument/2006/relationships" id="257" r:id="R64d4a4952d654b90"/>
    <p:sldId xmlns:r="http://schemas.openxmlformats.org/officeDocument/2006/relationships" id="258" r:id="R929e64a95bbb4e71"/>
    <p:sldId xmlns:r="http://schemas.openxmlformats.org/officeDocument/2006/relationships" id="259" r:id="R88178a7fef4647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1c7484185741b1" /><Relationship Type="http://schemas.openxmlformats.org/officeDocument/2006/relationships/slideMaster" Target="/ppt/slideMasters/slideMaster1.xml" Id="R1ef008f5cbdc44dd" /><Relationship Type="http://schemas.openxmlformats.org/officeDocument/2006/relationships/notesMaster" Target="/ppt/notesMasters/notesMaster1.xml" Id="R2e3706401f094b15" /><Relationship Type="http://schemas.openxmlformats.org/officeDocument/2006/relationships/presProps" Target="/ppt/presProps.xml" Id="R570693d72a9448e9" /><Relationship Type="http://schemas.openxmlformats.org/officeDocument/2006/relationships/tableStyles" Target="/ppt/tableStyles.xml" Id="R327d257768ab416e" /><Relationship Type="http://schemas.openxmlformats.org/officeDocument/2006/relationships/slide" Target="/ppt/slides/slide1.xml" Id="Rb8bb380900d24706" /><Relationship Type="http://schemas.openxmlformats.org/officeDocument/2006/relationships/slide" Target="/ppt/slides/slide2.xml" Id="R64d4a4952d654b90" /><Relationship Type="http://schemas.openxmlformats.org/officeDocument/2006/relationships/slide" Target="/ppt/slides/slide3.xml" Id="R929e64a95bbb4e71" /><Relationship Type="http://schemas.openxmlformats.org/officeDocument/2006/relationships/slide" Target="/ppt/slides/slide4.xml" Id="R88178a7fef4647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e64decbc1a43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f23f4613b5439c" /><Relationship Type="http://schemas.openxmlformats.org/officeDocument/2006/relationships/notesMaster" Target="/ppt/notesMasters/notesMaster1.xml" Id="Rad67fe1f219546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393c807c384209" /><Relationship Type="http://schemas.openxmlformats.org/officeDocument/2006/relationships/notesMaster" Target="/ppt/notesMasters/notesMaster1.xml" Id="R9abaf2d8384f46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ff2ad1ba694e51" /><Relationship Type="http://schemas.openxmlformats.org/officeDocument/2006/relationships/notesMaster" Target="/ppt/notesMasters/notesMaster1.xml" Id="R852bbb0ed73d41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4f2d00d2844143" /><Relationship Type="http://schemas.openxmlformats.org/officeDocument/2006/relationships/notesMaster" Target="/ppt/notesMasters/notesMaster1.xml" Id="Re8f9354b2b314a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195aa3fdf4d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976866840d4df6" /><Relationship Type="http://schemas.openxmlformats.org/officeDocument/2006/relationships/slideLayout" Target="/ppt/slideLayouts/slideLayout1.xml" Id="R75d7b0e3e1af47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d7b0e3e1af47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0293a024d468b" /><Relationship Type="http://schemas.openxmlformats.org/officeDocument/2006/relationships/notesSlide" Target="/ppt/notesSlides/notesSlide1.xml" Id="R0f5b1e4d0e9249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7a0672dfa410c" /><Relationship Type="http://schemas.openxmlformats.org/officeDocument/2006/relationships/notesSlide" Target="/ppt/notesSlides/notesSlide2.xml" Id="R6251dbcb14ee41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10fb44a8047e3" /><Relationship Type="http://schemas.openxmlformats.org/officeDocument/2006/relationships/notesSlide" Target="/ppt/notesSlides/notesSlide3.xml" Id="R6d9dbd6d284c4b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a5026d8224340" /><Relationship Type="http://schemas.openxmlformats.org/officeDocument/2006/relationships/chart" Target="/ppt/slides/charts/chart1.xml" Id="Rbcd87825c3cc489b" /><Relationship Type="http://schemas.openxmlformats.org/officeDocument/2006/relationships/notesSlide" Target="/ppt/notesSlides/notesSlide4.xml" Id="Rc14fef7cf3fd41e6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材料强度</c:v>
          </c:tx>
          <c:spPr>
            <a:solidFill xmlns:a="http://schemas.openxmlformats.org/drawingml/2006/main">
              <a:schemeClr val="accent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找回</c:v>
              </c:pt>
              <c:pt idx="1">
                <c:v>判断</c:v>
              </c:pt>
              <c:pt idx="2">
                <c:v>使用</c:v>
              </c:pt>
              <c:pt idx="3">
                <c:v>复盘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7</c:v>
              </c:pt>
              <c:pt idx="2">
                <c:v>6</c:v>
              </c:pt>
              <c:pt idx="3">
                <c:v>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390A7C8-7D42-4BA5-AE1A-7B149F93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2748E"/>
                </a:solidFill>
              </a:defRPr>
            </a:pPr>
            <a:r>
              <a:rPr sz="1350" b="1">
                <a:solidFill>
                  <a:srgbClr val="62748E"/>
                </a:solidFill>
              </a:rPr>
              <a:t>PKM-2026 · 2026-05-16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630F5EFB-B7DA-40A0-AD71-2BD3A8D1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20618"/>
                </a:solidFill>
              </a:defRPr>
            </a:pPr>
            <a:r>
              <a:rPr sz="3900" b="1">
                <a:solidFill>
                  <a:srgbClr val="020618"/>
                </a:solidFill>
              </a:rPr>
              <a:t>研究路线说明：PKM-2026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26670A41-14F9-4330-A2C8-FAAAC76A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5556C"/>
                </a:solidFill>
              </a:defRPr>
            </a:pPr>
            <a:r>
              <a:rPr sz="1950">
                <a:solidFill>
                  <a:srgbClr val="45556C"/>
                </a:solidFill>
              </a:rPr>
              <a:t>从个人经验到可描述机制</a:t>
            </a:r>
          </a:p>
        </p:txBody>
      </p:sp>
      <p:sp>
        <p:nvSpPr>
          <p:cNvPr id="4" name="owner">
            <a:extLst xmlns:a="http://schemas.openxmlformats.org/drawingml/2006/main">
              <a:ext uri="{FF2B5EF4-FFF2-40B4-BE49-F238E27FC236}">
                <a16:creationId xmlns:a16="http://schemas.microsoft.com/office/drawing/2014/main" id="{A408542D-81E4-4923-A18C-232EEEAB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748E"/>
                </a:solidFill>
              </a:defRPr>
            </a:pPr>
            <a:r>
              <a:rPr sz="1500">
                <a:solidFill>
                  <a:srgbClr val="62748E"/>
                </a:solidFill>
              </a:rPr>
              <a:t>林澈 · 城市知识计算实验室</a:t>
            </a:r>
          </a:p>
        </p:txBody>
      </p:sp>
    </p:spTree>
    <p:extLst>
      <p:ext uri="{BB962C8B-B14F-4D97-AF65-F5344CB8AC3E}">
        <p14:creationId xmlns:p14="http://schemas.microsoft.com/office/powerpoint/2010/main" val="748750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FBCDEBFA-ADBB-49AA-B485-B29FC07D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7161E6-1FFA-438D-813B-D66D83A1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路线设计</a:t>
            </a:r>
          </a:p>
        </p:txBody>
      </p:sp>
      <p:sp>
        <p:nvSpPr>
          <p:cNvPr id="3" name="body-points">
            <a:extLst xmlns:a="http://schemas.openxmlformats.org/drawingml/2006/main">
              <a:ext uri="{FF2B5EF4-FFF2-40B4-BE49-F238E27FC236}">
                <a16:creationId xmlns:a16="http://schemas.microsoft.com/office/drawing/2014/main" id="{EF0AA36C-C6BC-4996-88BF-5BED4467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85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第一阶段：记录真实资料进入系统的方式。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第二阶段：设计跨格式检索任务。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第三阶段：分析结果如何进入简报和论文草稿。</a:t>
            </a:r>
          </a:p>
        </p:txBody>
      </p:sp>
      <p:sp>
        <p:nvSpPr>
          <p:cNvPr id="4" name="right-note">
            <a:extLst xmlns:a="http://schemas.openxmlformats.org/drawingml/2006/main">
              <a:ext uri="{FF2B5EF4-FFF2-40B4-BE49-F238E27FC236}">
                <a16:creationId xmlns:a16="http://schemas.microsoft.com/office/drawing/2014/main" id="{860AC3D6-70F6-4FDA-84F3-A97E386E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5" name="right-note-text">
            <a:extLst xmlns:a="http://schemas.openxmlformats.org/drawingml/2006/main">
              <a:ext uri="{FF2B5EF4-FFF2-40B4-BE49-F238E27FC236}">
                <a16:creationId xmlns:a16="http://schemas.microsoft.com/office/drawing/2014/main" id="{120F4C18-4BF9-4055-9580-C83AB90C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复用提示</a:t>
            </a:r>
          </a:p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保留问题、来源和下一步行动，避免材料只停留在摘要层。</a:t>
            </a:r>
          </a:p>
        </p:txBody>
      </p:sp>
    </p:spTree>
    <p:extLst>
      <p:ext uri="{BB962C8B-B14F-4D97-AF65-F5344CB8AC3E}">
        <p14:creationId xmlns:p14="http://schemas.microsoft.com/office/powerpoint/2010/main" val="20650221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F6D3FA86-4512-4DE2-8047-BCF91F57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02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204855-D57E-49F7-9E1D-5CAC18AB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材料来源</a:t>
            </a:r>
          </a:p>
        </p:txBody>
      </p:sp>
      <p:sp>
        <p:nvSpPr>
          <p:cNvPr id="3" name="body-points">
            <a:extLst xmlns:a="http://schemas.openxmlformats.org/drawingml/2006/main">
              <a:ext uri="{FF2B5EF4-FFF2-40B4-BE49-F238E27FC236}">
                <a16:creationId xmlns:a16="http://schemas.microsoft.com/office/drawing/2014/main" id="{D2E57BBD-AC13-4A1C-B3E9-EBA6E5E5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85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个人日志记录保存动机。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访谈摘录记录同门真实痛点。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PDF 与 DOCX 提供正式材料和导师反馈。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PPTX 记录组会前后的表达压缩。</a:t>
            </a:r>
          </a:p>
        </p:txBody>
      </p:sp>
      <p:sp>
        <p:nvSpPr>
          <p:cNvPr id="4" name="right-note">
            <a:extLst xmlns:a="http://schemas.openxmlformats.org/drawingml/2006/main">
              <a:ext uri="{FF2B5EF4-FFF2-40B4-BE49-F238E27FC236}">
                <a16:creationId xmlns:a16="http://schemas.microsoft.com/office/drawing/2014/main" id="{4CA8D65E-2089-47CE-9940-11878CDE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5" name="right-note-text">
            <a:extLst xmlns:a="http://schemas.openxmlformats.org/drawingml/2006/main">
              <a:ext uri="{FF2B5EF4-FFF2-40B4-BE49-F238E27FC236}">
                <a16:creationId xmlns:a16="http://schemas.microsoft.com/office/drawing/2014/main" id="{3B41CEFA-809E-474D-8808-B5FC9511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复用提示</a:t>
            </a:r>
          </a:p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保留问题、来源和下一步行动，避免材料只停留在摘要层。</a:t>
            </a:r>
          </a:p>
        </p:txBody>
      </p:sp>
    </p:spTree>
    <p:extLst>
      <p:ext uri="{BB962C8B-B14F-4D97-AF65-F5344CB8AC3E}">
        <p14:creationId xmlns:p14="http://schemas.microsoft.com/office/powerpoint/2010/main" val="8506190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DD74A3D9-7299-4EF1-868F-4F07FA56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E46CF9-D909-422D-9879-E9BB191D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评价口径</a:t>
            </a:r>
          </a:p>
        </p:txBody>
      </p:sp>
      <p:sp>
        <p:nvSpPr>
          <p:cNvPr id="3" name="body-points">
            <a:extLst xmlns:a="http://schemas.openxmlformats.org/drawingml/2006/main">
              <a:ext uri="{FF2B5EF4-FFF2-40B4-BE49-F238E27FC236}">
                <a16:creationId xmlns:a16="http://schemas.microsoft.com/office/drawing/2014/main" id="{E965931D-B8AE-498D-91DB-AF4A742A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85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找回：用户是否找到相关旧资料。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判断：用户是否能说明来源为什么可信。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使用：用户是否能把资料转成新表达。</a:t>
            </a:r>
          </a:p>
        </p:txBody>
      </p:sp>
      <p:sp>
        <p:nvSpPr>
          <p:cNvPr id="4" name="evidence-chart-frame">
            <a:extLst xmlns:a="http://schemas.openxmlformats.org/drawingml/2006/main">
              <a:ext uri="{FF2B5EF4-FFF2-40B4-BE49-F238E27FC236}">
                <a16:creationId xmlns:a16="http://schemas.microsoft.com/office/drawing/2014/main" id="{EFC9D596-CBA5-4926-8380-F0FB650D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286750" y="2400300"/>
          <a:ext xmlns:a="http://schemas.openxmlformats.org/drawingml/2006/main" cx="2800350" cy="2362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d87825c3cc489b"/>
          </a:graphicData>
        </a:graphic>
      </p:graphicFrame>
      <p:sp>
        <p:nvSpPr>
          <p:cNvPr id="6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95363007-B255-4B75-9961-09101BEC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4158"/>
                </a:solidFill>
              </a:defRPr>
            </a:pPr>
            <a:r>
              <a:rPr sz="1350" b="1">
                <a:solidFill>
                  <a:srgbClr val="314158"/>
                </a:solidFill>
              </a:rPr>
              <a:t>证据链强度记录</a:t>
            </a:r>
          </a:p>
        </p:txBody>
      </p:sp>
    </p:spTree>
    <p:extLst>
      <p:ext uri="{BB962C8B-B14F-4D97-AF65-F5344CB8AC3E}">
        <p14:creationId xmlns:p14="http://schemas.microsoft.com/office/powerpoint/2010/main" val="808419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2026-06-24T02:41:35.1510000Z</dcterms:created>
  <dcterms:modified xsi:type="dcterms:W3CDTF">2026-06-24T02:41:35.1510000Z</dcterms:modified>
</coreProperties>
</file>