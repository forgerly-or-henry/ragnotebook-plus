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8c419e59c5450f" /><Relationship Type="http://schemas.openxmlformats.org/officeDocument/2006/relationships/extended-properties" Target="/docProps/app.xml" Id="R247eddf4ed0d4c0c" /><Relationship Type="http://schemas.openxmlformats.org/officeDocument/2006/relationships/officeDocument" Target="/ppt/presentation.xml" Id="R820f413a28a14c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ca15f6720b4d29"/>
  </p:sldMasterIdLst>
  <p:notesMasterIdLst>
    <p:notesMasterId xmlns:r="http://schemas.openxmlformats.org/officeDocument/2006/relationships" r:id="R3dd2d69d4d7145a2"/>
  </p:notesMasterIdLst>
  <p:sldIdLst>
    <p:sldId xmlns:r="http://schemas.openxmlformats.org/officeDocument/2006/relationships" id="256" r:id="R43720f12333a4a72"/>
    <p:sldId xmlns:r="http://schemas.openxmlformats.org/officeDocument/2006/relationships" id="257" r:id="R34d4e755526a47d7"/>
    <p:sldId xmlns:r="http://schemas.openxmlformats.org/officeDocument/2006/relationships" id="258" r:id="R6ce84670889c484c"/>
    <p:sldId xmlns:r="http://schemas.openxmlformats.org/officeDocument/2006/relationships" id="259" r:id="Rc23656166a47418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e0426e19884aff" /><Relationship Type="http://schemas.openxmlformats.org/officeDocument/2006/relationships/slideMaster" Target="/ppt/slideMasters/slideMaster1.xml" Id="Rbeca15f6720b4d29" /><Relationship Type="http://schemas.openxmlformats.org/officeDocument/2006/relationships/notesMaster" Target="/ppt/notesMasters/notesMaster1.xml" Id="R3dd2d69d4d7145a2" /><Relationship Type="http://schemas.openxmlformats.org/officeDocument/2006/relationships/presProps" Target="/ppt/presProps.xml" Id="Ra2726a370dc44459" /><Relationship Type="http://schemas.openxmlformats.org/officeDocument/2006/relationships/tableStyles" Target="/ppt/tableStyles.xml" Id="Rfd1e34e6173448c9" /><Relationship Type="http://schemas.openxmlformats.org/officeDocument/2006/relationships/slide" Target="/ppt/slides/slide1.xml" Id="R43720f12333a4a72" /><Relationship Type="http://schemas.openxmlformats.org/officeDocument/2006/relationships/slide" Target="/ppt/slides/slide2.xml" Id="R34d4e755526a47d7" /><Relationship Type="http://schemas.openxmlformats.org/officeDocument/2006/relationships/slide" Target="/ppt/slides/slide3.xml" Id="R6ce84670889c484c" /><Relationship Type="http://schemas.openxmlformats.org/officeDocument/2006/relationships/slide" Target="/ppt/slides/slide4.xml" Id="Rc23656166a4741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161af33f3d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8ee522d094244" /><Relationship Type="http://schemas.openxmlformats.org/officeDocument/2006/relationships/notesMaster" Target="/ppt/notesMasters/notesMaster1.xml" Id="R92f6bef278d444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44b7f17a544be" /><Relationship Type="http://schemas.openxmlformats.org/officeDocument/2006/relationships/notesMaster" Target="/ppt/notesMasters/notesMaster1.xml" Id="R3a66a8c8900e4a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80f98b489740c3" /><Relationship Type="http://schemas.openxmlformats.org/officeDocument/2006/relationships/notesMaster" Target="/ppt/notesMasters/notesMaster1.xml" Id="Rddccbaa132d046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7205ed77b347a9" /><Relationship Type="http://schemas.openxmlformats.org/officeDocument/2006/relationships/notesMaster" Target="/ppt/notesMasters/notesMaster1.xml" Id="R758a95c6a469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29b1809748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5e170421d34576" /><Relationship Type="http://schemas.openxmlformats.org/officeDocument/2006/relationships/slideLayout" Target="/ppt/slideLayouts/slideLayout1.xml" Id="Read9c4cea34b47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d9c4cea34b47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49591b756a4007" /><Relationship Type="http://schemas.openxmlformats.org/officeDocument/2006/relationships/notesSlide" Target="/ppt/notesSlides/notesSlide1.xml" Id="R053fc3928a3e48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ca83d231e4478" /><Relationship Type="http://schemas.openxmlformats.org/officeDocument/2006/relationships/notesSlide" Target="/ppt/notesSlides/notesSlide2.xml" Id="R4546f23d7c7c42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a8ba8dd9845e5" /><Relationship Type="http://schemas.openxmlformats.org/officeDocument/2006/relationships/notesSlide" Target="/ppt/notesSlides/notesSlide3.xml" Id="R4eb2a90dc92242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13c019fdbd48a8" /><Relationship Type="http://schemas.openxmlformats.org/officeDocument/2006/relationships/chart" Target="/ppt/slides/charts/chart1.xml" Id="R9c3613fe64bb4301" /><Relationship Type="http://schemas.openxmlformats.org/officeDocument/2006/relationships/notesSlide" Target="/ppt/notesSlides/notesSlide4.xml" Id="R750227667e6b4ebd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材料强度</c:v>
          </c:tx>
          <c:spPr>
            <a:solidFill xmlns:a="http://schemas.openxmlformats.org/drawingml/2006/main">
              <a:schemeClr val="accent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资料</c:v>
              </c:pt>
              <c:pt idx="1">
                <c:v>问题</c:v>
              </c:pt>
              <c:pt idx="2">
                <c:v>证据</c:v>
              </c:pt>
              <c:pt idx="3">
                <c:v>行动</c:v>
              </c:pt>
            </c:strLit>
          </c:cat>
          <c:val>
            <c:numLit>
              <c:formatCode>General</c:formatCode>
              <c:ptCount val="4"/>
              <c:pt idx="0">
                <c:v>12</c:v>
              </c:pt>
              <c:pt idx="1">
                <c:v>7</c:v>
              </c:pt>
              <c:pt idx="2">
                <c:v>9</c:v>
              </c:pt>
              <c:pt idx="3">
                <c:v>4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BA723CD-6DFD-49BB-8618-13ABFAE4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2748E"/>
                </a:solidFill>
              </a:defRPr>
            </a:pPr>
            <a:r>
              <a:rPr sz="1350" b="1">
                <a:solidFill>
                  <a:srgbClr val="62748E"/>
                </a:solidFill>
              </a:rPr>
              <a:t>PKM-2026 · 2026-04-25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A396415D-D957-4C02-88EC-C8304202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20618"/>
                </a:solidFill>
              </a:defRPr>
            </a:pPr>
            <a:r>
              <a:rPr sz="3900" b="1">
                <a:solidFill>
                  <a:srgbClr val="020618"/>
                </a:solidFill>
              </a:rPr>
              <a:t>组会汇报：PKM-2026 第 3 周进展</a:t>
            </a:r>
          </a:p>
        </p:txBody>
      </p:sp>
      <p:sp>
        <p:nvSpPr>
          <p:cNvPr id="3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1F09FEF9-03E7-4AC0-B637-A16053A1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5556C"/>
                </a:solidFill>
              </a:defRPr>
            </a:pPr>
            <a:r>
              <a:rPr sz="1950">
                <a:solidFill>
                  <a:srgbClr val="45556C"/>
                </a:solidFill>
              </a:rPr>
              <a:t>从资料上传到证据链梳理</a:t>
            </a:r>
          </a:p>
        </p:txBody>
      </p:sp>
      <p:sp>
        <p:nvSpPr>
          <p:cNvPr id="4" name="owner">
            <a:extLst xmlns:a="http://schemas.openxmlformats.org/drawingml/2006/main">
              <a:ext uri="{FF2B5EF4-FFF2-40B4-BE49-F238E27FC236}">
                <a16:creationId xmlns:a16="http://schemas.microsoft.com/office/drawing/2014/main" id="{E2676BE8-0D61-4C97-AB3C-7898D3FB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2748E"/>
                </a:solidFill>
              </a:defRPr>
            </a:pPr>
            <a:r>
              <a:rPr sz="1500">
                <a:solidFill>
                  <a:srgbClr val="62748E"/>
                </a:solidFill>
              </a:rPr>
              <a:t>林澈 · 城市知识计算实验室</a:t>
            </a:r>
          </a:p>
        </p:txBody>
      </p:sp>
    </p:spTree>
    <p:extLst>
      <p:ext uri="{BB962C8B-B14F-4D97-AF65-F5344CB8AC3E}">
        <p14:creationId xmlns:p14="http://schemas.microsoft.com/office/powerpoint/2010/main" val="3139211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CE744673-02B6-4591-B13B-5F43AAFF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24417D-3556-4A85-B92A-1E8FD725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本周主线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F28DA3C8-D339-4C5C-94AB-73E2596A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围绕“资料为什么会在后续写作中失联”整理三类证据。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把课程笔记、论文卡片和访谈摘录放入同一知识库。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第一次用问题式检索回到跨格式材料。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87418E61-816C-4C7E-AE3C-93A01D97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E2361AF3-E66F-4F6C-820E-673C161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1106136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E181FE19-D794-40D0-B19C-B6F1CC6F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E31E95-1733-4409-B7A9-D515A884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观察到的真实流程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25EDE978-5A47-4FF6-9112-B72B2FF0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保存资料时的任务不同，所以文件格式自然不同。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复用资料时，用户想起的是问题场景，不一定是文件标题。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片段来源越清楚，越容易进入正式写作。</a:t>
            </a:r>
          </a:p>
        </p:txBody>
      </p:sp>
      <p:sp>
        <p:nvSpPr>
          <p:cNvPr id="4" name="right-note">
            <a:extLst xmlns:a="http://schemas.openxmlformats.org/drawingml/2006/main">
              <a:ext uri="{FF2B5EF4-FFF2-40B4-BE49-F238E27FC236}">
                <a16:creationId xmlns:a16="http://schemas.microsoft.com/office/drawing/2014/main" id="{8B2D7EE1-499D-4671-AE66-F82F83B9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5" name="right-note-text">
            <a:extLst xmlns:a="http://schemas.openxmlformats.org/drawingml/2006/main">
              <a:ext uri="{FF2B5EF4-FFF2-40B4-BE49-F238E27FC236}">
                <a16:creationId xmlns:a16="http://schemas.microsoft.com/office/drawing/2014/main" id="{1D5BA272-1327-4EEE-B82F-B41F176AC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571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复用提示</a:t>
            </a:r>
          </a:p>
          <a:p xmlns:a="http://schemas.openxmlformats.org/drawingml/2006/main">
            <a:pPr>
              <a:defRPr sz="1725" b="0">
                <a:solidFill>
                  <a:srgbClr val="314158"/>
                </a:solidFill>
              </a:defRPr>
            </a:pPr>
            <a:r>
              <a:rPr sz="1725" b="0">
                <a:solidFill>
                  <a:srgbClr val="314158"/>
                </a:solidFill>
              </a:rPr>
              <a:t>保留问题、来源和下一步行动，避免材料只停留在摘要层。</a:t>
            </a:r>
          </a:p>
        </p:txBody>
      </p:sp>
    </p:spTree>
    <p:extLst>
      <p:ext uri="{BB962C8B-B14F-4D97-AF65-F5344CB8AC3E}">
        <p14:creationId xmlns:p14="http://schemas.microsoft.com/office/powerpoint/2010/main" val="231730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">
            <a:extLst xmlns:a="http://schemas.openxmlformats.org/drawingml/2006/main">
              <a:ext uri="{FF2B5EF4-FFF2-40B4-BE49-F238E27FC236}">
                <a16:creationId xmlns:a16="http://schemas.microsoft.com/office/drawing/2014/main" id="{6FA1AA10-1A75-46A9-B891-24957EFC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"/>
            <a:ext cx="800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90A1B9"/>
                </a:solidFill>
              </a:defRPr>
            </a:pPr>
            <a:r>
              <a:rPr sz="1800" b="1">
                <a:solidFill>
                  <a:srgbClr val="90A1B9"/>
                </a:solidFill>
              </a:rPr>
              <a:t>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776D55-7B69-4C1B-81A9-11BE9ACA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239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下一步证据链</a:t>
            </a:r>
          </a:p>
        </p:txBody>
      </p:sp>
      <p:sp>
        <p:nvSpPr>
          <p:cNvPr id="3" name="body-points">
            <a:extLst xmlns:a="http://schemas.openxmlformats.org/drawingml/2006/main">
              <a:ext uri="{FF2B5EF4-FFF2-40B4-BE49-F238E27FC236}">
                <a16:creationId xmlns:a16="http://schemas.microsoft.com/office/drawing/2014/main" id="{6FCFB831-0B29-40AD-989A-44D574CA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685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补齐每个文件的保存动机。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记录每次检索的初始问题和后续行动。</a:t>
            </a:r>
          </a:p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• 把导师反馈转成可追踪的问题清单。</a:t>
            </a:r>
          </a:p>
        </p:txBody>
      </p:sp>
      <p:sp>
        <p:nvSpPr>
          <p:cNvPr id="4" name="evidence-chart-frame">
            <a:extLst xmlns:a="http://schemas.openxmlformats.org/drawingml/2006/main">
              <a:ext uri="{FF2B5EF4-FFF2-40B4-BE49-F238E27FC236}">
                <a16:creationId xmlns:a16="http://schemas.microsoft.com/office/drawing/2014/main" id="{DB92B218-6410-4DE7-B201-9E7269BC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286750" y="2400300"/>
          <a:ext xmlns:a="http://schemas.openxmlformats.org/drawingml/2006/main" cx="2800350" cy="2362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c3613fe64bb4301"/>
          </a:graphicData>
        </a:graphic>
      </p:graphicFrame>
      <p:sp>
        <p:nvSpPr>
          <p:cNvPr id="6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B13EF700-31C4-4E42-8399-B7EF3F4F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14158"/>
                </a:solidFill>
              </a:defRPr>
            </a:pPr>
            <a:r>
              <a:rPr sz="1350" b="1">
                <a:solidFill>
                  <a:srgbClr val="314158"/>
                </a:solidFill>
              </a:rPr>
              <a:t>证据链强度记录</a:t>
            </a:r>
          </a:p>
        </p:txBody>
      </p:sp>
    </p:spTree>
    <p:extLst>
      <p:ext uri="{BB962C8B-B14F-4D97-AF65-F5344CB8AC3E}">
        <p14:creationId xmlns:p14="http://schemas.microsoft.com/office/powerpoint/2010/main" val="20926846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2026-06-24T02:41:34.3280000Z</dcterms:created>
  <dcterms:modified xsi:type="dcterms:W3CDTF">2026-06-24T02:41:34.3280000Z</dcterms:modified>
</coreProperties>
</file>