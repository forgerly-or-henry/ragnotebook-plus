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98a662ea75e4632" /><Relationship Type="http://schemas.openxmlformats.org/officeDocument/2006/relationships/extended-properties" Target="/docProps/app.xml" Id="Re502d81947b1495e" /><Relationship Type="http://schemas.openxmlformats.org/officeDocument/2006/relationships/officeDocument" Target="/ppt/presentation.xml" Id="R586e789388934ee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78e78fb5ba54760"/>
  </p:sldMasterIdLst>
  <p:notesMasterIdLst>
    <p:notesMasterId xmlns:r="http://schemas.openxmlformats.org/officeDocument/2006/relationships" r:id="R81634d4c6d834131"/>
  </p:notesMasterIdLst>
  <p:sldIdLst>
    <p:sldId xmlns:r="http://schemas.openxmlformats.org/officeDocument/2006/relationships" id="256" r:id="Rd3e60811ea554053"/>
    <p:sldId xmlns:r="http://schemas.openxmlformats.org/officeDocument/2006/relationships" id="257" r:id="Rec11fbca17144945"/>
    <p:sldId xmlns:r="http://schemas.openxmlformats.org/officeDocument/2006/relationships" id="258" r:id="Ra1b74db24b6c42ee"/>
    <p:sldId xmlns:r="http://schemas.openxmlformats.org/officeDocument/2006/relationships" id="259" r:id="R7153b16a602446d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883da584d3542f0" /><Relationship Type="http://schemas.openxmlformats.org/officeDocument/2006/relationships/slideMaster" Target="/ppt/slideMasters/slideMaster1.xml" Id="R178e78fb5ba54760" /><Relationship Type="http://schemas.openxmlformats.org/officeDocument/2006/relationships/notesMaster" Target="/ppt/notesMasters/notesMaster1.xml" Id="R81634d4c6d834131" /><Relationship Type="http://schemas.openxmlformats.org/officeDocument/2006/relationships/presProps" Target="/ppt/presProps.xml" Id="Rebea93034a764bb1" /><Relationship Type="http://schemas.openxmlformats.org/officeDocument/2006/relationships/tableStyles" Target="/ppt/tableStyles.xml" Id="R36ef160dce974f49" /><Relationship Type="http://schemas.openxmlformats.org/officeDocument/2006/relationships/slide" Target="/ppt/slides/slide1.xml" Id="Rd3e60811ea554053" /><Relationship Type="http://schemas.openxmlformats.org/officeDocument/2006/relationships/slide" Target="/ppt/slides/slide2.xml" Id="Rec11fbca17144945" /><Relationship Type="http://schemas.openxmlformats.org/officeDocument/2006/relationships/slide" Target="/ppt/slides/slide3.xml" Id="Ra1b74db24b6c42ee" /><Relationship Type="http://schemas.openxmlformats.org/officeDocument/2006/relationships/slide" Target="/ppt/slides/slide4.xml" Id="R7153b16a602446d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505625ef2cb4e7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a7d5d784575407f" /><Relationship Type="http://schemas.openxmlformats.org/officeDocument/2006/relationships/notesMaster" Target="/ppt/notesMasters/notesMaster1.xml" Id="Rbae32e396f874ac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6c0962f23484481" /><Relationship Type="http://schemas.openxmlformats.org/officeDocument/2006/relationships/notesMaster" Target="/ppt/notesMasters/notesMaster1.xml" Id="Ra67d05e056e745f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95bb4d19fe74a1d" /><Relationship Type="http://schemas.openxmlformats.org/officeDocument/2006/relationships/notesMaster" Target="/ppt/notesMasters/notesMaster1.xml" Id="R407d703cbb88431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776877d1c3f4016" /><Relationship Type="http://schemas.openxmlformats.org/officeDocument/2006/relationships/notesMaster" Target="/ppt/notesMasters/notesMaster1.xml" Id="R95b360a2734f41a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5a70b4ee954c2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147f95257924cce" /><Relationship Type="http://schemas.openxmlformats.org/officeDocument/2006/relationships/slideLayout" Target="/ppt/slideLayouts/slideLayout1.xml" Id="R7e4d2e5b5982400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e4d2e5b5982400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fd03f9bf2447c5" /><Relationship Type="http://schemas.openxmlformats.org/officeDocument/2006/relationships/notesSlide" Target="/ppt/notesSlides/notesSlide1.xml" Id="R02923ae1eb084a6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4335f711294d4c" /><Relationship Type="http://schemas.openxmlformats.org/officeDocument/2006/relationships/notesSlide" Target="/ppt/notesSlides/notesSlide2.xml" Id="R71edf1b3934546b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bba5aaeebc4d7c" /><Relationship Type="http://schemas.openxmlformats.org/officeDocument/2006/relationships/notesSlide" Target="/ppt/notesSlides/notesSlide3.xml" Id="Rf3cf30f1348c448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3a154f37ad4e76" /><Relationship Type="http://schemas.openxmlformats.org/officeDocument/2006/relationships/chart" Target="/ppt/slides/charts/chart1.xml" Id="Rd36e4dcf18f0412e" /><Relationship Type="http://schemas.openxmlformats.org/officeDocument/2006/relationships/notesSlide" Target="/ppt/notesSlides/notesSlide4.xml" Id="R0ff3ff95770d4158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varyColors val="0"/>
        <c:ser>
          <c:idx val="0"/>
          <c:order val="0"/>
          <c:tx>
            <c:v>材料强度</c:v>
          </c:tx>
          <c:spPr>
            <a:solidFill xmlns:a="http://schemas.openxmlformats.org/drawingml/2006/main">
              <a:schemeClr val="accent1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4"/>
              <c:pt idx="0">
                <c:v>保存</c:v>
              </c:pt>
              <c:pt idx="1">
                <c:v>组织</c:v>
              </c:pt>
              <c:pt idx="2">
                <c:v>检索</c:v>
              </c:pt>
              <c:pt idx="3">
                <c:v>写作</c:v>
              </c:pt>
            </c:strLit>
          </c:cat>
          <c:val>
            <c:numLit>
              <c:formatCode>General</c:formatCode>
              <c:ptCount val="4"/>
              <c:pt idx="0">
                <c:v>9</c:v>
              </c:pt>
              <c:pt idx="1">
                <c:v>7</c:v>
              </c:pt>
              <c:pt idx="2">
                <c:v>8</c:v>
              </c:pt>
              <c:pt idx="3">
                <c:v>6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023E42BF-E446-43A7-A437-F278F15EE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858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2748E"/>
                </a:solidFill>
              </a:defRPr>
            </a:pPr>
            <a:r>
              <a:rPr sz="1350" b="1">
                <a:solidFill>
                  <a:srgbClr val="62748E"/>
                </a:solidFill>
              </a:rPr>
              <a:t>PKM-2026 · 2026-05-30</a:t>
            </a:r>
          </a:p>
        </p:txBody>
      </p:sp>
      <p:sp>
        <p:nvSpPr>
          <p:cNvPr id="2" name="deck-title">
            <a:extLst xmlns:a="http://schemas.openxmlformats.org/drawingml/2006/main">
              <a:ext uri="{FF2B5EF4-FFF2-40B4-BE49-F238E27FC236}">
                <a16:creationId xmlns:a16="http://schemas.microsoft.com/office/drawing/2014/main" id="{546EA20A-A340-490E-B048-77D49B5DF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90700"/>
            <a:ext cx="857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20618"/>
                </a:solidFill>
              </a:defRPr>
            </a:pPr>
            <a:r>
              <a:rPr sz="3900" b="1">
                <a:solidFill>
                  <a:srgbClr val="020618"/>
                </a:solidFill>
              </a:rPr>
              <a:t>知识库方法分享：研究生资料复用</a:t>
            </a:r>
          </a:p>
        </p:txBody>
      </p:sp>
      <p:sp>
        <p:nvSpPr>
          <p:cNvPr id="3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22A72813-395F-45F6-8276-E4168EDE9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45556C"/>
                </a:solidFill>
              </a:defRPr>
            </a:pPr>
            <a:r>
              <a:rPr sz="1950">
                <a:solidFill>
                  <a:srgbClr val="45556C"/>
                </a:solidFill>
              </a:rPr>
              <a:t>林澈的 6 周工作流</a:t>
            </a:r>
          </a:p>
        </p:txBody>
      </p:sp>
      <p:sp>
        <p:nvSpPr>
          <p:cNvPr id="4" name="owner">
            <a:extLst xmlns:a="http://schemas.openxmlformats.org/drawingml/2006/main">
              <a:ext uri="{FF2B5EF4-FFF2-40B4-BE49-F238E27FC236}">
                <a16:creationId xmlns:a16="http://schemas.microsoft.com/office/drawing/2014/main" id="{FC9E8B4B-A97C-4BF9-BB8E-27D02830C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7210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2748E"/>
                </a:solidFill>
              </a:defRPr>
            </a:pPr>
            <a:r>
              <a:rPr sz="1500">
                <a:solidFill>
                  <a:srgbClr val="62748E"/>
                </a:solidFill>
              </a:rPr>
              <a:t>林澈 · 城市知识计算实验室</a:t>
            </a:r>
          </a:p>
        </p:txBody>
      </p:sp>
    </p:spTree>
    <p:extLst>
      <p:ext uri="{BB962C8B-B14F-4D97-AF65-F5344CB8AC3E}">
        <p14:creationId xmlns:p14="http://schemas.microsoft.com/office/powerpoint/2010/main" val="4689626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">
            <a:extLst xmlns:a="http://schemas.openxmlformats.org/drawingml/2006/main">
              <a:ext uri="{FF2B5EF4-FFF2-40B4-BE49-F238E27FC236}">
                <a16:creationId xmlns:a16="http://schemas.microsoft.com/office/drawing/2014/main" id="{099052C5-C885-43D7-B9E5-6DD28F82B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9600"/>
            <a:ext cx="800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90A1B9"/>
                </a:solidFill>
              </a:defRPr>
            </a:pPr>
            <a:r>
              <a:rPr sz="1800" b="1">
                <a:solidFill>
                  <a:srgbClr val="90A1B9"/>
                </a:solidFill>
              </a:rPr>
              <a:t>01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5A86C19-6BDF-4F79-BAD5-B76DBA358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23950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工作流原则</a:t>
            </a:r>
          </a:p>
        </p:txBody>
      </p:sp>
      <p:sp>
        <p:nvSpPr>
          <p:cNvPr id="3" name="body-points">
            <a:extLst xmlns:a="http://schemas.openxmlformats.org/drawingml/2006/main">
              <a:ext uri="{FF2B5EF4-FFF2-40B4-BE49-F238E27FC236}">
                <a16:creationId xmlns:a16="http://schemas.microsoft.com/office/drawing/2014/main" id="{1582C426-66EA-4E68-842C-0A3A036D3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6858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• 先保存真实材料，再逐步整理结构。</a:t>
            </a:r>
          </a:p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• 每个文件补一句保存动机。</a:t>
            </a:r>
          </a:p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• 组会前先检索问题，再制作幻灯片。</a:t>
            </a:r>
          </a:p>
        </p:txBody>
      </p:sp>
      <p:sp>
        <p:nvSpPr>
          <p:cNvPr id="4" name="right-note">
            <a:extLst xmlns:a="http://schemas.openxmlformats.org/drawingml/2006/main">
              <a:ext uri="{FF2B5EF4-FFF2-40B4-BE49-F238E27FC236}">
                <a16:creationId xmlns:a16="http://schemas.microsoft.com/office/drawing/2014/main" id="{0012051A-6C74-446A-B7C8-1931D3DBC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90750"/>
            <a:ext cx="31432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5" name="right-note-text">
            <a:extLst xmlns:a="http://schemas.openxmlformats.org/drawingml/2006/main">
              <a:ext uri="{FF2B5EF4-FFF2-40B4-BE49-F238E27FC236}">
                <a16:creationId xmlns:a16="http://schemas.microsoft.com/office/drawing/2014/main" id="{ECB9EA8C-DA9C-479B-9412-DB329EAEF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76500"/>
            <a:ext cx="2571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14158"/>
                </a:solidFill>
              </a:defRPr>
            </a:pPr>
            <a:r>
              <a:rPr sz="1725" b="0">
                <a:solidFill>
                  <a:srgbClr val="314158"/>
                </a:solidFill>
              </a:rPr>
              <a:t>复用提示</a:t>
            </a:r>
          </a:p>
          <a:p xmlns:a="http://schemas.openxmlformats.org/drawingml/2006/main">
            <a:pPr>
              <a:defRPr sz="1725" b="0">
                <a:solidFill>
                  <a:srgbClr val="314158"/>
                </a:solidFill>
              </a:defRPr>
            </a:pPr>
            <a:r>
              <a:rPr sz="1725" b="0">
                <a:solidFill>
                  <a:srgbClr val="314158"/>
                </a:solidFill>
              </a:rPr>
              <a:t>保留问题、来源和下一步行动，避免材料只停留在摘要层。</a:t>
            </a:r>
          </a:p>
        </p:txBody>
      </p:sp>
    </p:spTree>
    <p:extLst>
      <p:ext uri="{BB962C8B-B14F-4D97-AF65-F5344CB8AC3E}">
        <p14:creationId xmlns:p14="http://schemas.microsoft.com/office/powerpoint/2010/main" val="16351804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">
            <a:extLst xmlns:a="http://schemas.openxmlformats.org/drawingml/2006/main">
              <a:ext uri="{FF2B5EF4-FFF2-40B4-BE49-F238E27FC236}">
                <a16:creationId xmlns:a16="http://schemas.microsoft.com/office/drawing/2014/main" id="{E5224BD6-C4D3-4A25-84B1-05BF0F70F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9600"/>
            <a:ext cx="800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90A1B9"/>
                </a:solidFill>
              </a:defRPr>
            </a:pPr>
            <a:r>
              <a:rPr sz="1800" b="1">
                <a:solidFill>
                  <a:srgbClr val="90A1B9"/>
                </a:solidFill>
              </a:rPr>
              <a:t>02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8A05856-3FA3-48FF-8151-9CD824E17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23950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文件类型分工</a:t>
            </a:r>
          </a:p>
        </p:txBody>
      </p:sp>
      <p:sp>
        <p:nvSpPr>
          <p:cNvPr id="3" name="body-points">
            <a:extLst xmlns:a="http://schemas.openxmlformats.org/drawingml/2006/main">
              <a:ext uri="{FF2B5EF4-FFF2-40B4-BE49-F238E27FC236}">
                <a16:creationId xmlns:a16="http://schemas.microsoft.com/office/drawing/2014/main" id="{E9FA9303-A29A-477C-B2D3-30609D598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6858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• TXT 保存碎片和访谈原话。</a:t>
            </a:r>
          </a:p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• Markdown 保存过程解释和主题索引。</a:t>
            </a:r>
          </a:p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• DOCX 保存会议纪要和导师反馈。</a:t>
            </a:r>
          </a:p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• PDF 保存讲义、报告和实验记录。</a:t>
            </a:r>
          </a:p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• PPTX 保存阶段表达。</a:t>
            </a:r>
          </a:p>
        </p:txBody>
      </p:sp>
      <p:sp>
        <p:nvSpPr>
          <p:cNvPr id="4" name="right-note">
            <a:extLst xmlns:a="http://schemas.openxmlformats.org/drawingml/2006/main">
              <a:ext uri="{FF2B5EF4-FFF2-40B4-BE49-F238E27FC236}">
                <a16:creationId xmlns:a16="http://schemas.microsoft.com/office/drawing/2014/main" id="{F79D9E04-A539-44B9-9BB8-854E0D833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90750"/>
            <a:ext cx="31432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5" name="right-note-text">
            <a:extLst xmlns:a="http://schemas.openxmlformats.org/drawingml/2006/main">
              <a:ext uri="{FF2B5EF4-FFF2-40B4-BE49-F238E27FC236}">
                <a16:creationId xmlns:a16="http://schemas.microsoft.com/office/drawing/2014/main" id="{7B30B8B8-838D-4F0B-B04E-C35595B27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76500"/>
            <a:ext cx="2571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14158"/>
                </a:solidFill>
              </a:defRPr>
            </a:pPr>
            <a:r>
              <a:rPr sz="1725" b="0">
                <a:solidFill>
                  <a:srgbClr val="314158"/>
                </a:solidFill>
              </a:rPr>
              <a:t>复用提示</a:t>
            </a:r>
          </a:p>
          <a:p xmlns:a="http://schemas.openxmlformats.org/drawingml/2006/main">
            <a:pPr>
              <a:defRPr sz="1725" b="0">
                <a:solidFill>
                  <a:srgbClr val="314158"/>
                </a:solidFill>
              </a:defRPr>
            </a:pPr>
            <a:r>
              <a:rPr sz="1725" b="0">
                <a:solidFill>
                  <a:srgbClr val="314158"/>
                </a:solidFill>
              </a:rPr>
              <a:t>保留问题、来源和下一步行动，避免材料只停留在摘要层。</a:t>
            </a:r>
          </a:p>
        </p:txBody>
      </p:sp>
    </p:spTree>
    <p:extLst>
      <p:ext uri="{BB962C8B-B14F-4D97-AF65-F5344CB8AC3E}">
        <p14:creationId xmlns:p14="http://schemas.microsoft.com/office/powerpoint/2010/main" val="7997713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">
            <a:extLst xmlns:a="http://schemas.openxmlformats.org/drawingml/2006/main">
              <a:ext uri="{FF2B5EF4-FFF2-40B4-BE49-F238E27FC236}">
                <a16:creationId xmlns:a16="http://schemas.microsoft.com/office/drawing/2014/main" id="{F3D001B8-FE57-45C4-A151-7F23B6FA7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9600"/>
            <a:ext cx="800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90A1B9"/>
                </a:solidFill>
              </a:defRPr>
            </a:pPr>
            <a:r>
              <a:rPr sz="1800" b="1">
                <a:solidFill>
                  <a:srgbClr val="90A1B9"/>
                </a:solidFill>
              </a:rPr>
              <a:t>03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725D95B-5B0A-48C5-BC58-41517AADA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23950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留给后续自己的规则</a:t>
            </a:r>
          </a:p>
        </p:txBody>
      </p:sp>
      <p:sp>
        <p:nvSpPr>
          <p:cNvPr id="3" name="body-points">
            <a:extLst xmlns:a="http://schemas.openxmlformats.org/drawingml/2006/main">
              <a:ext uri="{FF2B5EF4-FFF2-40B4-BE49-F238E27FC236}">
                <a16:creationId xmlns:a16="http://schemas.microsoft.com/office/drawing/2014/main" id="{0B6245A2-B2E0-49A3-96FA-A3E5B4883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6858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• 不要只写摘要，要保留问题和来源。</a:t>
            </a:r>
          </a:p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• 不要过早细分文件夹，先保证能找回。</a:t>
            </a:r>
          </a:p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• 复用成功的材料要提升为主题索引。</a:t>
            </a:r>
          </a:p>
        </p:txBody>
      </p:sp>
      <p:sp>
        <p:nvSpPr>
          <p:cNvPr id="4" name="evidence-chart-frame">
            <a:extLst xmlns:a="http://schemas.openxmlformats.org/drawingml/2006/main">
              <a:ext uri="{FF2B5EF4-FFF2-40B4-BE49-F238E27FC236}">
                <a16:creationId xmlns:a16="http://schemas.microsoft.com/office/drawing/2014/main" id="{ABC49F72-50F0-4D1A-B7ED-65F0A24BE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81200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8286750" y="2400300"/>
          <a:ext xmlns:a="http://schemas.openxmlformats.org/drawingml/2006/main" cx="2800350" cy="2362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36e4dcf18f0412e"/>
          </a:graphicData>
        </a:graphic>
      </p:graphicFrame>
      <p:sp>
        <p:nvSpPr>
          <p:cNvPr id="6" name="chart-caption">
            <a:extLst xmlns:a="http://schemas.openxmlformats.org/drawingml/2006/main">
              <a:ext uri="{FF2B5EF4-FFF2-40B4-BE49-F238E27FC236}">
                <a16:creationId xmlns:a16="http://schemas.microsoft.com/office/drawing/2014/main" id="{3E535A79-CBBF-4686-A530-3E931C394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145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14158"/>
                </a:solidFill>
              </a:defRPr>
            </a:pPr>
            <a:r>
              <a:rPr sz="1350" b="1">
                <a:solidFill>
                  <a:srgbClr val="314158"/>
                </a:solidFill>
              </a:rPr>
              <a:t>证据链强度记录</a:t>
            </a:r>
          </a:p>
        </p:txBody>
      </p:sp>
    </p:spTree>
    <p:extLst>
      <p:ext uri="{BB962C8B-B14F-4D97-AF65-F5344CB8AC3E}">
        <p14:creationId xmlns:p14="http://schemas.microsoft.com/office/powerpoint/2010/main" val="16594432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2026-06-24T02:41:35.4060000Z</dcterms:created>
  <dcterms:modified xsi:type="dcterms:W3CDTF">2026-06-24T02:41:35.4060000Z</dcterms:modified>
</coreProperties>
</file>