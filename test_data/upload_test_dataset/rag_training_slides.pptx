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bc291b9daf4e3d" /><Relationship Type="http://schemas.openxmlformats.org/officeDocument/2006/relationships/extended-properties" Target="/docProps/app.xml" Id="R3e9e97e0991141dd" /><Relationship Type="http://schemas.openxmlformats.org/officeDocument/2006/relationships/officeDocument" Target="/ppt/presentation.xml" Id="Rc37dcf2545bf48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a84b3083f5473c"/>
  </p:sldMasterIdLst>
  <p:notesMasterIdLst>
    <p:notesMasterId xmlns:r="http://schemas.openxmlformats.org/officeDocument/2006/relationships" r:id="Rc180f55a819b4754"/>
  </p:notesMasterIdLst>
  <p:sldIdLst>
    <p:sldId xmlns:r="http://schemas.openxmlformats.org/officeDocument/2006/relationships" id="256" r:id="R7e975c22bcf04e97"/>
    <p:sldId xmlns:r="http://schemas.openxmlformats.org/officeDocument/2006/relationships" id="257" r:id="R5a8a0a0c3aba46f9"/>
    <p:sldId xmlns:r="http://schemas.openxmlformats.org/officeDocument/2006/relationships" id="258" r:id="Rbf1a75145ad240be"/>
    <p:sldId xmlns:r="http://schemas.openxmlformats.org/officeDocument/2006/relationships" id="259" r:id="R33fe6ce6a46a424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4934a740b84eb2" /><Relationship Type="http://schemas.openxmlformats.org/officeDocument/2006/relationships/slideMaster" Target="/ppt/slideMasters/slideMaster1.xml" Id="Raea84b3083f5473c" /><Relationship Type="http://schemas.openxmlformats.org/officeDocument/2006/relationships/notesMaster" Target="/ppt/notesMasters/notesMaster1.xml" Id="Rc180f55a819b4754" /><Relationship Type="http://schemas.openxmlformats.org/officeDocument/2006/relationships/presProps" Target="/ppt/presProps.xml" Id="Raaf664d443c64578" /><Relationship Type="http://schemas.openxmlformats.org/officeDocument/2006/relationships/tableStyles" Target="/ppt/tableStyles.xml" Id="Rac1c3ca2c53747de" /><Relationship Type="http://schemas.openxmlformats.org/officeDocument/2006/relationships/slide" Target="/ppt/slides/slide1.xml" Id="R7e975c22bcf04e97" /><Relationship Type="http://schemas.openxmlformats.org/officeDocument/2006/relationships/slide" Target="/ppt/slides/slide2.xml" Id="R5a8a0a0c3aba46f9" /><Relationship Type="http://schemas.openxmlformats.org/officeDocument/2006/relationships/slide" Target="/ppt/slides/slide3.xml" Id="Rbf1a75145ad240be" /><Relationship Type="http://schemas.openxmlformats.org/officeDocument/2006/relationships/slide" Target="/ppt/slides/slide4.xml" Id="R33fe6ce6a46a42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55a6669d0348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0836e219d946f8" /><Relationship Type="http://schemas.openxmlformats.org/officeDocument/2006/relationships/notesMaster" Target="/ppt/notesMasters/notesMaster1.xml" Id="R2ddf6b9810ba43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429d8e1ae94df8" /><Relationship Type="http://schemas.openxmlformats.org/officeDocument/2006/relationships/notesMaster" Target="/ppt/notesMasters/notesMaster1.xml" Id="R161e0eaab43c43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0108279eb44ca0" /><Relationship Type="http://schemas.openxmlformats.org/officeDocument/2006/relationships/notesMaster" Target="/ppt/notesMasters/notesMaster1.xml" Id="Rbb63dec30c8d480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36d82fc77941b6" /><Relationship Type="http://schemas.openxmlformats.org/officeDocument/2006/relationships/notesMaster" Target="/ppt/notesMasters/notesMaster1.xml" Id="R412c48f71de749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afedee818548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bbe77fbd6346f8" /><Relationship Type="http://schemas.openxmlformats.org/officeDocument/2006/relationships/slideLayout" Target="/ppt/slideLayouts/slideLayout1.xml" Id="R8394a90ca9b545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94a90ca9b545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9aa68d1ab342ae" /><Relationship Type="http://schemas.openxmlformats.org/officeDocument/2006/relationships/image" Target="/ppt/media/image.png" Id="R2371626ffbf048ac" /><Relationship Type="http://schemas.openxmlformats.org/officeDocument/2006/relationships/notesSlide" Target="/ppt/notesSlides/notesSlide1.xml" Id="Rfe065dfa136944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5b6dfe3ddb4074" /><Relationship Type="http://schemas.openxmlformats.org/officeDocument/2006/relationships/image" Target="/ppt/media/image2.png" Id="Rbee20033c6964d6c" /><Relationship Type="http://schemas.openxmlformats.org/officeDocument/2006/relationships/notesSlide" Target="/ppt/notesSlides/notesSlide2.xml" Id="Ra226aeadcbd9445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32f33247ce49a0" /><Relationship Type="http://schemas.openxmlformats.org/officeDocument/2006/relationships/image" Target="/ppt/media/image3.png" Id="Re4e73d3faddd4635" /><Relationship Type="http://schemas.openxmlformats.org/officeDocument/2006/relationships/notesSlide" Target="/ppt/notesSlides/notesSlide3.xml" Id="R4a37e9587e384f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4ac71264784a78" /><Relationship Type="http://schemas.openxmlformats.org/officeDocument/2006/relationships/image" Target="/ppt/media/image4.png" Id="Rea04f96a80c14703" /><Relationship Type="http://schemas.openxmlformats.org/officeDocument/2006/relationships/notesSlide" Target="/ppt/notesSlides/notesSlide4.xml" Id="Re233759fe0704db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72D137D4-1C02-4C7C-B01C-2B8FFB57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slide-1-title">
            <a:extLst xmlns:a="http://schemas.openxmlformats.org/drawingml/2006/main">
              <a:ext uri="{FF2B5EF4-FFF2-40B4-BE49-F238E27FC236}">
                <a16:creationId xmlns:a16="http://schemas.microsoft.com/office/drawing/2014/main" id="{275966EC-FCA5-42E8-9D36-83B6C7ED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619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F172A"/>
                </a:solidFill>
              </a:defRPr>
            </a:pPr>
            <a:r>
              <a:rPr sz="3225" b="1">
                <a:solidFill>
                  <a:srgbClr val="0F172A"/>
                </a:solidFill>
              </a:rPr>
              <a:t>RAGNotebook 上传测试数据集</a:t>
            </a:r>
          </a:p>
        </p:txBody>
      </p:sp>
      <p:sp>
        <p:nvSpPr>
          <p:cNvPr id="3" name="slide-1-subtitle">
            <a:extLst xmlns:a="http://schemas.openxmlformats.org/drawingml/2006/main">
              <a:ext uri="{FF2B5EF4-FFF2-40B4-BE49-F238E27FC236}">
                <a16:creationId xmlns:a16="http://schemas.microsoft.com/office/drawing/2014/main" id="{CE67DAD7-D0A3-4A63-BCE4-97B08C63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561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验证 PPTX 上传、切片、向量索引和图片预览</a:t>
            </a:r>
          </a:p>
        </p:txBody>
      </p:sp>
      <p:sp>
        <p:nvSpPr>
          <p:cNvPr id="4" name="bullet-dot-1-1">
            <a:extLst xmlns:a="http://schemas.openxmlformats.org/drawingml/2006/main">
              <a:ext uri="{FF2B5EF4-FFF2-40B4-BE49-F238E27FC236}">
                <a16:creationId xmlns:a16="http://schemas.microsoft.com/office/drawing/2014/main" id="{6ABC3CC1-E228-4F77-9247-5A8C5632E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bullet-text-1-1">
            <a:extLst xmlns:a="http://schemas.openxmlformats.org/drawingml/2006/main">
              <a:ext uri="{FF2B5EF4-FFF2-40B4-BE49-F238E27FC236}">
                <a16:creationId xmlns:a16="http://schemas.microsoft.com/office/drawing/2014/main" id="{A0AF1E54-909D-4E87-85C4-EE00FC2B0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765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</a:defRPr>
            </a:pPr>
            <a:r>
              <a:rPr sz="1650" b="0">
                <a:solidFill>
                  <a:srgbClr val="1E293B"/>
                </a:solidFill>
              </a:rPr>
              <a:t>正向上传样例</a:t>
            </a:r>
          </a:p>
        </p:txBody>
      </p:sp>
      <p:sp>
        <p:nvSpPr>
          <p:cNvPr id="6" name="bullet-dot-1-2">
            <a:extLst xmlns:a="http://schemas.openxmlformats.org/drawingml/2006/main">
              <a:ext uri="{FF2B5EF4-FFF2-40B4-BE49-F238E27FC236}">
                <a16:creationId xmlns:a16="http://schemas.microsoft.com/office/drawing/2014/main" id="{6DF1043E-3B56-494D-9057-0DBE93E9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bullet-text-1-2">
            <a:extLst xmlns:a="http://schemas.openxmlformats.org/drawingml/2006/main">
              <a:ext uri="{FF2B5EF4-FFF2-40B4-BE49-F238E27FC236}">
                <a16:creationId xmlns:a16="http://schemas.microsoft.com/office/drawing/2014/main" id="{9F68CEB9-048E-46DA-A34C-C420AED8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2897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</a:defRPr>
            </a:pPr>
            <a:r>
              <a:rPr sz="1650" b="0">
                <a:solidFill>
                  <a:srgbClr val="1E293B"/>
                </a:solidFill>
              </a:rPr>
              <a:t>知识库文件夹</a:t>
            </a:r>
          </a:p>
        </p:txBody>
      </p:sp>
      <p:sp>
        <p:nvSpPr>
          <p:cNvPr id="8" name="bullet-dot-1-3">
            <a:extLst xmlns:a="http://schemas.openxmlformats.org/drawingml/2006/main">
              <a:ext uri="{FF2B5EF4-FFF2-40B4-BE49-F238E27FC236}">
                <a16:creationId xmlns:a16="http://schemas.microsoft.com/office/drawing/2014/main" id="{92B5447A-7E37-48D4-90AF-A7ADDDFF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bullet-text-1-3">
            <a:extLst xmlns:a="http://schemas.openxmlformats.org/drawingml/2006/main">
              <a:ext uri="{FF2B5EF4-FFF2-40B4-BE49-F238E27FC236}">
                <a16:creationId xmlns:a16="http://schemas.microsoft.com/office/drawing/2014/main" id="{52069F21-BAED-4237-8DEE-41D34CBF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814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</a:defRPr>
            </a:pPr>
            <a:r>
              <a:rPr sz="1650" b="0">
                <a:solidFill>
                  <a:srgbClr val="1E293B"/>
                </a:solidFill>
              </a:rPr>
              <a:t>图片预览</a:t>
            </a:r>
          </a:p>
        </p:txBody>
      </p:sp>
      <p:sp>
        <p:nvSpPr>
          <p:cNvPr id="10" name="keyword-footer-1">
            <a:extLst xmlns:a="http://schemas.openxmlformats.org/drawingml/2006/main">
              <a:ext uri="{FF2B5EF4-FFF2-40B4-BE49-F238E27FC236}">
                <a16:creationId xmlns:a16="http://schemas.microsoft.com/office/drawing/2014/main" id="{8E01A83D-8B3C-4DE7-A457-85E6B110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关键词：向量索引 | 权限隔离 | 上传失败处理 | 知识库文件夹 | 图片预览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71626ffbf048ac"/>
          <a:stretch xmlns:a="http://schemas.openxmlformats.org/drawingml/2006/main"/>
        </p:blipFill>
        <p:spPr>
          <a:xfrm xmlns:a="http://schemas.openxmlformats.org/drawingml/2006/main">
            <a:off x="6762750" y="1809334"/>
            <a:ext cx="4762500" cy="2229682"/>
          </a:xfrm>
          <a:prstGeom xmlns:a="http://schemas.openxmlformats.org/drawingml/2006/main" prst="roundRect">
            <a:avLst>
              <a:gd name="adj" fmla="val 1860"/>
            </a:avLst>
          </a:prstGeom>
        </p:spPr>
      </p:pic>
    </p:spTree>
    <p:extLst>
      <p:ext uri="{BB962C8B-B14F-4D97-AF65-F5344CB8AC3E}">
        <p14:creationId xmlns:p14="http://schemas.microsoft.com/office/powerpoint/2010/main" val="11007872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86AC830D-7153-4524-B2E5-BBB7FEEDE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395631D8-6505-42C1-A8DB-B33DEE48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619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文本切片与向量索引</a:t>
            </a:r>
          </a:p>
        </p:txBody>
      </p:sp>
      <p:sp>
        <p:nvSpPr>
          <p:cNvPr id="3" name="slide-2-subtitle">
            <a:extLst xmlns:a="http://schemas.openxmlformats.org/drawingml/2006/main">
              <a:ext uri="{FF2B5EF4-FFF2-40B4-BE49-F238E27FC236}">
                <a16:creationId xmlns:a16="http://schemas.microsoft.com/office/drawing/2014/main" id="{20E56278-ABDA-4B0D-940F-A719D756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561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上传后解析文本，生成切片，再写入向量索引。</a:t>
            </a:r>
          </a:p>
        </p:txBody>
      </p:sp>
      <p:sp>
        <p:nvSpPr>
          <p:cNvPr id="4" name="bullet-dot-2-1">
            <a:extLst xmlns:a="http://schemas.openxmlformats.org/drawingml/2006/main">
              <a:ext uri="{FF2B5EF4-FFF2-40B4-BE49-F238E27FC236}">
                <a16:creationId xmlns:a16="http://schemas.microsoft.com/office/drawing/2014/main" id="{08389EBF-59DE-48A8-9B7F-1CEB1E0E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5" name="bullet-text-2-1">
            <a:extLst xmlns:a="http://schemas.openxmlformats.org/drawingml/2006/main">
              <a:ext uri="{FF2B5EF4-FFF2-40B4-BE49-F238E27FC236}">
                <a16:creationId xmlns:a16="http://schemas.microsoft.com/office/drawing/2014/main" id="{4DA55D2F-D2C3-44B7-B54A-9C3436BF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765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</a:defRPr>
            </a:pPr>
            <a:r>
              <a:rPr sz="1650" b="0">
                <a:solidFill>
                  <a:srgbClr val="1E293B"/>
                </a:solidFill>
              </a:rPr>
              <a:t>切片内容应包含关键词</a:t>
            </a:r>
          </a:p>
        </p:txBody>
      </p:sp>
      <p:sp>
        <p:nvSpPr>
          <p:cNvPr id="6" name="bullet-dot-2-2">
            <a:extLst xmlns:a="http://schemas.openxmlformats.org/drawingml/2006/main">
              <a:ext uri="{FF2B5EF4-FFF2-40B4-BE49-F238E27FC236}">
                <a16:creationId xmlns:a16="http://schemas.microsoft.com/office/drawing/2014/main" id="{AB0C5DBC-3FBA-40B0-9AAE-3BB16776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7" name="bullet-text-2-2">
            <a:extLst xmlns:a="http://schemas.openxmlformats.org/drawingml/2006/main">
              <a:ext uri="{FF2B5EF4-FFF2-40B4-BE49-F238E27FC236}">
                <a16:creationId xmlns:a16="http://schemas.microsoft.com/office/drawing/2014/main" id="{2ABA5C0A-1450-4929-83B7-DC659F20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2897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</a:defRPr>
            </a:pPr>
            <a:r>
              <a:rPr sz="1650" b="0">
                <a:solidFill>
                  <a:srgbClr val="1E293B"/>
                </a:solidFill>
              </a:rPr>
              <a:t>搜索：向量索引</a:t>
            </a:r>
          </a:p>
        </p:txBody>
      </p:sp>
      <p:sp>
        <p:nvSpPr>
          <p:cNvPr id="8" name="bullet-dot-2-3">
            <a:extLst xmlns:a="http://schemas.openxmlformats.org/drawingml/2006/main">
              <a:ext uri="{FF2B5EF4-FFF2-40B4-BE49-F238E27FC236}">
                <a16:creationId xmlns:a16="http://schemas.microsoft.com/office/drawing/2014/main" id="{5B01EBFE-F546-4520-B664-377CA54A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9" name="bullet-text-2-3">
            <a:extLst xmlns:a="http://schemas.openxmlformats.org/drawingml/2006/main">
              <a:ext uri="{FF2B5EF4-FFF2-40B4-BE49-F238E27FC236}">
                <a16:creationId xmlns:a16="http://schemas.microsoft.com/office/drawing/2014/main" id="{F66655A9-D347-4D52-A0C0-88910ADC2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814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</a:defRPr>
            </a:pPr>
            <a:r>
              <a:rPr sz="1650" b="0">
                <a:solidFill>
                  <a:srgbClr val="1E293B"/>
                </a:solidFill>
              </a:rPr>
              <a:t>详情页展示 chunk 数量</a:t>
            </a:r>
          </a:p>
        </p:txBody>
      </p:sp>
      <p:sp>
        <p:nvSpPr>
          <p:cNvPr id="10" name="keyword-footer-2">
            <a:extLst xmlns:a="http://schemas.openxmlformats.org/drawingml/2006/main">
              <a:ext uri="{FF2B5EF4-FFF2-40B4-BE49-F238E27FC236}">
                <a16:creationId xmlns:a16="http://schemas.microsoft.com/office/drawing/2014/main" id="{2145C855-6189-4D09-9A80-9667B2FC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关键词：向量索引 | 权限隔离 | 上传失败处理 | 知识库文件夹 | 图片预览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e20033c6964d6c"/>
          <a:stretch xmlns:a="http://schemas.openxmlformats.org/drawingml/2006/main"/>
        </p:blipFill>
        <p:spPr>
          <a:xfrm xmlns:a="http://schemas.openxmlformats.org/drawingml/2006/main">
            <a:off x="6762750" y="1805350"/>
            <a:ext cx="4762500" cy="2237651"/>
          </a:xfrm>
          <a:prstGeom xmlns:a="http://schemas.openxmlformats.org/drawingml/2006/main" prst="roundRect">
            <a:avLst>
              <a:gd name="adj" fmla="val 1860"/>
            </a:avLst>
          </a:prstGeom>
        </p:spPr>
      </p:pic>
    </p:spTree>
    <p:extLst>
      <p:ext uri="{BB962C8B-B14F-4D97-AF65-F5344CB8AC3E}">
        <p14:creationId xmlns:p14="http://schemas.microsoft.com/office/powerpoint/2010/main" val="6080511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22DBF64D-5970-4AFD-9C06-D0913527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1AA6701F-CAA4-4104-987B-5DB2DDC0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619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权限隔离与会话检索</a:t>
            </a:r>
          </a:p>
        </p:txBody>
      </p:sp>
      <p:sp>
        <p:nvSpPr>
          <p:cNvPr id="3" name="slide-3-subtitle">
            <a:extLst xmlns:a="http://schemas.openxmlformats.org/drawingml/2006/main">
              <a:ext uri="{FF2B5EF4-FFF2-40B4-BE49-F238E27FC236}">
                <a16:creationId xmlns:a16="http://schemas.microsoft.com/office/drawing/2014/main" id="{530969DC-B6DA-46D1-88CB-E7E3264A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561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不同用户上传同名文件时，检索结果必须只返回当前账号的数据。</a:t>
            </a:r>
          </a:p>
        </p:txBody>
      </p:sp>
      <p:sp>
        <p:nvSpPr>
          <p:cNvPr id="4" name="bullet-dot-3-1">
            <a:extLst xmlns:a="http://schemas.openxmlformats.org/drawingml/2006/main">
              <a:ext uri="{FF2B5EF4-FFF2-40B4-BE49-F238E27FC236}">
                <a16:creationId xmlns:a16="http://schemas.microsoft.com/office/drawing/2014/main" id="{1073CE3F-66E4-45C1-803D-13E6BAE12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5" name="bullet-text-3-1">
            <a:extLst xmlns:a="http://schemas.openxmlformats.org/drawingml/2006/main">
              <a:ext uri="{FF2B5EF4-FFF2-40B4-BE49-F238E27FC236}">
                <a16:creationId xmlns:a16="http://schemas.microsoft.com/office/drawing/2014/main" id="{485DEA62-2AB8-4F2B-9FCE-5F3B6EA8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765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</a:defRPr>
            </a:pPr>
            <a:r>
              <a:rPr sz="1650" b="0">
                <a:solidFill>
                  <a:srgbClr val="1E293B"/>
                </a:solidFill>
              </a:rPr>
              <a:t>搜索结果按用户隔离</a:t>
            </a:r>
          </a:p>
        </p:txBody>
      </p:sp>
      <p:sp>
        <p:nvSpPr>
          <p:cNvPr id="6" name="bullet-dot-3-2">
            <a:extLst xmlns:a="http://schemas.openxmlformats.org/drawingml/2006/main">
              <a:ext uri="{FF2B5EF4-FFF2-40B4-BE49-F238E27FC236}">
                <a16:creationId xmlns:a16="http://schemas.microsoft.com/office/drawing/2014/main" id="{00CC9C0F-9B4B-41AF-B5CE-EB963705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7" name="bullet-text-3-2">
            <a:extLst xmlns:a="http://schemas.openxmlformats.org/drawingml/2006/main">
              <a:ext uri="{FF2B5EF4-FFF2-40B4-BE49-F238E27FC236}">
                <a16:creationId xmlns:a16="http://schemas.microsoft.com/office/drawing/2014/main" id="{0E2D8CCE-1C07-48CF-968A-0C31420C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2897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</a:defRPr>
            </a:pPr>
            <a:r>
              <a:rPr sz="1650" b="0">
                <a:solidFill>
                  <a:srgbClr val="1E293B"/>
                </a:solidFill>
              </a:rPr>
              <a:t>原文件下载受权限控制</a:t>
            </a:r>
          </a:p>
        </p:txBody>
      </p:sp>
      <p:sp>
        <p:nvSpPr>
          <p:cNvPr id="8" name="bullet-dot-3-3">
            <a:extLst xmlns:a="http://schemas.openxmlformats.org/drawingml/2006/main">
              <a:ext uri="{FF2B5EF4-FFF2-40B4-BE49-F238E27FC236}">
                <a16:creationId xmlns:a16="http://schemas.microsoft.com/office/drawing/2014/main" id="{58EAE946-A73D-40A4-A24A-E23BEF7F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9" name="bullet-text-3-3">
            <a:extLst xmlns:a="http://schemas.openxmlformats.org/drawingml/2006/main">
              <a:ext uri="{FF2B5EF4-FFF2-40B4-BE49-F238E27FC236}">
                <a16:creationId xmlns:a16="http://schemas.microsoft.com/office/drawing/2014/main" id="{BCEB30F7-B16A-4466-9551-1A93F81F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814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</a:defRPr>
            </a:pPr>
            <a:r>
              <a:rPr sz="1650" b="0">
                <a:solidFill>
                  <a:srgbClr val="1E293B"/>
                </a:solidFill>
              </a:rPr>
              <a:t>问答引用来自当前知识库</a:t>
            </a:r>
          </a:p>
        </p:txBody>
      </p:sp>
      <p:sp>
        <p:nvSpPr>
          <p:cNvPr id="10" name="keyword-footer-3">
            <a:extLst xmlns:a="http://schemas.openxmlformats.org/drawingml/2006/main">
              <a:ext uri="{FF2B5EF4-FFF2-40B4-BE49-F238E27FC236}">
                <a16:creationId xmlns:a16="http://schemas.microsoft.com/office/drawing/2014/main" id="{30BC20AB-67E5-4D3B-901E-3EA070B8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关键词：向量索引 | 权限隔离 | 上传失败处理 | 知识库文件夹 | 图片预览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e73d3faddd4635"/>
          <a:stretch xmlns:a="http://schemas.openxmlformats.org/drawingml/2006/main"/>
        </p:blipFill>
        <p:spPr>
          <a:xfrm xmlns:a="http://schemas.openxmlformats.org/drawingml/2006/main">
            <a:off x="6762750" y="1799835"/>
            <a:ext cx="4762500" cy="2248680"/>
          </a:xfrm>
          <a:prstGeom xmlns:a="http://schemas.openxmlformats.org/drawingml/2006/main" prst="roundRect">
            <a:avLst>
              <a:gd name="adj" fmla="val 1860"/>
            </a:avLst>
          </a:prstGeom>
        </p:spPr>
      </p:pic>
    </p:spTree>
    <p:extLst>
      <p:ext uri="{BB962C8B-B14F-4D97-AF65-F5344CB8AC3E}">
        <p14:creationId xmlns:p14="http://schemas.microsoft.com/office/powerpoint/2010/main" val="6440295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65EAB7FF-BBA2-4B86-81A2-C9273106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293D0072-E866-45BE-89B4-730DF4AE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619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上传失败处理边界</a:t>
            </a:r>
          </a:p>
        </p:txBody>
      </p:sp>
      <p:sp>
        <p:nvSpPr>
          <p:cNvPr id="3" name="slide-4-subtitle">
            <a:extLst xmlns:a="http://schemas.openxmlformats.org/drawingml/2006/main">
              <a:ext uri="{FF2B5EF4-FFF2-40B4-BE49-F238E27FC236}">
                <a16:creationId xmlns:a16="http://schemas.microsoft.com/office/drawing/2014/main" id="{1651371B-5528-4974-A4F8-9B5BD45F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561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本数据集不含失败文件；失败路径建议另用空文件、旧版格式或超大文件验证。</a:t>
            </a:r>
          </a:p>
        </p:txBody>
      </p:sp>
      <p:sp>
        <p:nvSpPr>
          <p:cNvPr id="4" name="bullet-dot-4-1">
            <a:extLst xmlns:a="http://schemas.openxmlformats.org/drawingml/2006/main">
              <a:ext uri="{FF2B5EF4-FFF2-40B4-BE49-F238E27FC236}">
                <a16:creationId xmlns:a16="http://schemas.microsoft.com/office/drawing/2014/main" id="{2DA6FE7C-E499-4710-8EA7-9A99C72B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5" name="bullet-text-4-1">
            <a:extLst xmlns:a="http://schemas.openxmlformats.org/drawingml/2006/main">
              <a:ext uri="{FF2B5EF4-FFF2-40B4-BE49-F238E27FC236}">
                <a16:creationId xmlns:a16="http://schemas.microsoft.com/office/drawing/2014/main" id="{443D8619-AF4E-407C-952D-AEDA5928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765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</a:defRPr>
            </a:pPr>
            <a:r>
              <a:rPr sz="1650" b="0">
                <a:solidFill>
                  <a:srgbClr val="1E293B"/>
                </a:solidFill>
              </a:rPr>
              <a:t>成功数应为 5</a:t>
            </a:r>
          </a:p>
        </p:txBody>
      </p:sp>
      <p:sp>
        <p:nvSpPr>
          <p:cNvPr id="6" name="bullet-dot-4-2">
            <a:extLst xmlns:a="http://schemas.openxmlformats.org/drawingml/2006/main">
              <a:ext uri="{FF2B5EF4-FFF2-40B4-BE49-F238E27FC236}">
                <a16:creationId xmlns:a16="http://schemas.microsoft.com/office/drawing/2014/main" id="{BA2B5D70-7C29-4897-9FD2-12FEE209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7" name="bullet-text-4-2">
            <a:extLst xmlns:a="http://schemas.openxmlformats.org/drawingml/2006/main">
              <a:ext uri="{FF2B5EF4-FFF2-40B4-BE49-F238E27FC236}">
                <a16:creationId xmlns:a16="http://schemas.microsoft.com/office/drawing/2014/main" id="{00D935F4-D69D-4B22-9C0E-F9FCC658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2897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</a:defRPr>
            </a:pPr>
            <a:r>
              <a:rPr sz="1650" b="0">
                <a:solidFill>
                  <a:srgbClr val="1E293B"/>
                </a:solidFill>
              </a:rPr>
              <a:t>失败数应为 0</a:t>
            </a:r>
          </a:p>
        </p:txBody>
      </p:sp>
      <p:sp>
        <p:nvSpPr>
          <p:cNvPr id="8" name="bullet-dot-4-3">
            <a:extLst xmlns:a="http://schemas.openxmlformats.org/drawingml/2006/main">
              <a:ext uri="{FF2B5EF4-FFF2-40B4-BE49-F238E27FC236}">
                <a16:creationId xmlns:a16="http://schemas.microsoft.com/office/drawing/2014/main" id="{76F1411C-5C27-4488-A612-1E95DE15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solidFill>
              <a:srgbClr val="B45309"/>
            </a:solidFill>
            <a:prstDash val="solid"/>
          </a:ln>
        </p:spPr>
      </p:sp>
      <p:sp>
        <p:nvSpPr>
          <p:cNvPr id="9" name="bullet-text-4-3">
            <a:extLst xmlns:a="http://schemas.openxmlformats.org/drawingml/2006/main">
              <a:ext uri="{FF2B5EF4-FFF2-40B4-BE49-F238E27FC236}">
                <a16:creationId xmlns:a16="http://schemas.microsoft.com/office/drawing/2014/main" id="{BBFB882C-9D53-4F8B-A634-9A370188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8142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</a:defRPr>
            </a:pPr>
            <a:r>
              <a:rPr sz="1650" b="0">
                <a:solidFill>
                  <a:srgbClr val="1E293B"/>
                </a:solidFill>
              </a:rPr>
              <a:t>渲染预览中图片应清晰可见</a:t>
            </a:r>
          </a:p>
        </p:txBody>
      </p:sp>
      <p:sp>
        <p:nvSpPr>
          <p:cNvPr id="10" name="keyword-footer-4">
            <a:extLst xmlns:a="http://schemas.openxmlformats.org/drawingml/2006/main">
              <a:ext uri="{FF2B5EF4-FFF2-40B4-BE49-F238E27FC236}">
                <a16:creationId xmlns:a16="http://schemas.microsoft.com/office/drawing/2014/main" id="{67A2261B-7C8A-4E56-A2DE-C1C218C0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关键词：向量索引 | 权限隔离 | 上传失败处理 | 知识库文件夹 | 图片预览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04f96a80c14703"/>
          <a:stretch xmlns:a="http://schemas.openxmlformats.org/drawingml/2006/main"/>
        </p:blipFill>
        <p:spPr>
          <a:xfrm xmlns:a="http://schemas.openxmlformats.org/drawingml/2006/main">
            <a:off x="6762750" y="1799765"/>
            <a:ext cx="4762500" cy="2248820"/>
          </a:xfrm>
          <a:prstGeom xmlns:a="http://schemas.openxmlformats.org/drawingml/2006/main" prst="roundRect">
            <a:avLst>
              <a:gd name="adj" fmla="val 1860"/>
            </a:avLst>
          </a:prstGeom>
        </p:spPr>
      </p:pic>
    </p:spTree>
    <p:extLst>
      <p:ext uri="{BB962C8B-B14F-4D97-AF65-F5344CB8AC3E}">
        <p14:creationId xmlns:p14="http://schemas.microsoft.com/office/powerpoint/2010/main" val="2723182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2026-06-24T01:02:43.1060000Z</dcterms:created>
  <dcterms:modified xsi:type="dcterms:W3CDTF">2026-06-24T01:02:43.1060000Z</dcterms:modified>
</coreProperties>
</file>